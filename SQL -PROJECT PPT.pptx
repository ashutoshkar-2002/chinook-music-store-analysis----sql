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70" r:id="rId4"/>
    <p:sldId id="269" r:id="rId5"/>
    <p:sldId id="271" r:id="rId6"/>
    <p:sldId id="268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BE84F-169B-4D96-B61F-DAAF4E07F205}" v="12" dt="2025-11-02T05:15:23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06" autoAdjust="0"/>
  </p:normalViewPr>
  <p:slideViewPr>
    <p:cSldViewPr snapToGrid="0">
      <p:cViewPr varScale="1">
        <p:scale>
          <a:sx n="83" d="100"/>
          <a:sy n="83" d="100"/>
        </p:scale>
        <p:origin x="43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KAR" userId="62d58b8dd1f5f27d" providerId="LiveId" clId="{02F0863D-18FC-4DAC-AB78-C7F77E1AD674}"/>
    <pc:docChg chg="undo custSel addSld delSld modSld sldOrd">
      <pc:chgData name="ASHUTOSH KAR" userId="62d58b8dd1f5f27d" providerId="LiveId" clId="{02F0863D-18FC-4DAC-AB78-C7F77E1AD674}" dt="2025-11-02T05:16:49.450" v="275" actId="14100"/>
      <pc:docMkLst>
        <pc:docMk/>
      </pc:docMkLst>
      <pc:sldChg chg="modSp mod">
        <pc:chgData name="ASHUTOSH KAR" userId="62d58b8dd1f5f27d" providerId="LiveId" clId="{02F0863D-18FC-4DAC-AB78-C7F77E1AD674}" dt="2025-10-18T06:55:36.706" v="11" actId="20577"/>
        <pc:sldMkLst>
          <pc:docMk/>
          <pc:sldMk cId="2289602469" sldId="256"/>
        </pc:sldMkLst>
        <pc:spChg chg="mod">
          <ac:chgData name="ASHUTOSH KAR" userId="62d58b8dd1f5f27d" providerId="LiveId" clId="{02F0863D-18FC-4DAC-AB78-C7F77E1AD674}" dt="2025-10-18T06:55:36.706" v="11" actId="20577"/>
          <ac:spMkLst>
            <pc:docMk/>
            <pc:sldMk cId="2289602469" sldId="256"/>
            <ac:spMk id="3" creationId="{D316C423-509D-2413-0052-100ABA6EBFB9}"/>
          </ac:spMkLst>
        </pc:spChg>
      </pc:sldChg>
      <pc:sldChg chg="modSp mod">
        <pc:chgData name="ASHUTOSH KAR" userId="62d58b8dd1f5f27d" providerId="LiveId" clId="{02F0863D-18FC-4DAC-AB78-C7F77E1AD674}" dt="2025-11-02T04:54:35.648" v="124" actId="1076"/>
        <pc:sldMkLst>
          <pc:docMk/>
          <pc:sldMk cId="3328083553" sldId="257"/>
        </pc:sldMkLst>
        <pc:spChg chg="mod">
          <ac:chgData name="ASHUTOSH KAR" userId="62d58b8dd1f5f27d" providerId="LiveId" clId="{02F0863D-18FC-4DAC-AB78-C7F77E1AD674}" dt="2025-11-02T04:54:35.648" v="124" actId="1076"/>
          <ac:spMkLst>
            <pc:docMk/>
            <pc:sldMk cId="3328083553" sldId="257"/>
            <ac:spMk id="2" creationId="{AC57CD83-3AF6-16FE-D4A1-6BBBB609F4E1}"/>
          </ac:spMkLst>
        </pc:spChg>
        <pc:spChg chg="mod">
          <ac:chgData name="ASHUTOSH KAR" userId="62d58b8dd1f5f27d" providerId="LiveId" clId="{02F0863D-18FC-4DAC-AB78-C7F77E1AD674}" dt="2025-11-02T04:41:57.056" v="123" actId="1076"/>
          <ac:spMkLst>
            <pc:docMk/>
            <pc:sldMk cId="3328083553" sldId="257"/>
            <ac:spMk id="3" creationId="{487E79E8-FEC2-852D-F681-C0F531506117}"/>
          </ac:spMkLst>
        </pc:spChg>
        <pc:spChg chg="mod">
          <ac:chgData name="ASHUTOSH KAR" userId="62d58b8dd1f5f27d" providerId="LiveId" clId="{02F0863D-18FC-4DAC-AB78-C7F77E1AD674}" dt="2025-11-02T04:41:41.283" v="121" actId="1076"/>
          <ac:spMkLst>
            <pc:docMk/>
            <pc:sldMk cId="3328083553" sldId="257"/>
            <ac:spMk id="4" creationId="{923D00B6-453A-EB9A-9544-BEC7C2D4D557}"/>
          </ac:spMkLst>
        </pc:spChg>
      </pc:sldChg>
      <pc:sldChg chg="modSp mod">
        <pc:chgData name="ASHUTOSH KAR" userId="62d58b8dd1f5f27d" providerId="LiveId" clId="{02F0863D-18FC-4DAC-AB78-C7F77E1AD674}" dt="2025-11-02T04:56:25.952" v="126" actId="1076"/>
        <pc:sldMkLst>
          <pc:docMk/>
          <pc:sldMk cId="1586681531" sldId="258"/>
        </pc:sldMkLst>
        <pc:spChg chg="mod">
          <ac:chgData name="ASHUTOSH KAR" userId="62d58b8dd1f5f27d" providerId="LiveId" clId="{02F0863D-18FC-4DAC-AB78-C7F77E1AD674}" dt="2025-11-02T04:56:25.952" v="126" actId="1076"/>
          <ac:spMkLst>
            <pc:docMk/>
            <pc:sldMk cId="1586681531" sldId="258"/>
            <ac:spMk id="2" creationId="{CA6F8A57-C9F0-F946-BC21-18AF86957AF7}"/>
          </ac:spMkLst>
        </pc:spChg>
      </pc:sldChg>
      <pc:sldChg chg="modSp mod">
        <pc:chgData name="ASHUTOSH KAR" userId="62d58b8dd1f5f27d" providerId="LiveId" clId="{02F0863D-18FC-4DAC-AB78-C7F77E1AD674}" dt="2025-11-02T04:56:51.240" v="128" actId="1076"/>
        <pc:sldMkLst>
          <pc:docMk/>
          <pc:sldMk cId="2136157199" sldId="260"/>
        </pc:sldMkLst>
        <pc:spChg chg="mod">
          <ac:chgData name="ASHUTOSH KAR" userId="62d58b8dd1f5f27d" providerId="LiveId" clId="{02F0863D-18FC-4DAC-AB78-C7F77E1AD674}" dt="2025-11-02T04:56:51.240" v="128" actId="1076"/>
          <ac:spMkLst>
            <pc:docMk/>
            <pc:sldMk cId="2136157199" sldId="260"/>
            <ac:spMk id="2" creationId="{29E9C895-CA00-889B-9051-09EDADAE267D}"/>
          </ac:spMkLst>
        </pc:spChg>
      </pc:sldChg>
      <pc:sldChg chg="modSp mod">
        <pc:chgData name="ASHUTOSH KAR" userId="62d58b8dd1f5f27d" providerId="LiveId" clId="{02F0863D-18FC-4DAC-AB78-C7F77E1AD674}" dt="2025-11-02T04:56:10.163" v="125" actId="1076"/>
        <pc:sldMkLst>
          <pc:docMk/>
          <pc:sldMk cId="251310975" sldId="268"/>
        </pc:sldMkLst>
        <pc:spChg chg="mod">
          <ac:chgData name="ASHUTOSH KAR" userId="62d58b8dd1f5f27d" providerId="LiveId" clId="{02F0863D-18FC-4DAC-AB78-C7F77E1AD674}" dt="2025-11-02T04:56:10.163" v="125" actId="1076"/>
          <ac:spMkLst>
            <pc:docMk/>
            <pc:sldMk cId="251310975" sldId="268"/>
            <ac:spMk id="2" creationId="{054F949A-6DE1-F110-E3E1-3DF11188236C}"/>
          </ac:spMkLst>
        </pc:spChg>
        <pc:picChg chg="mod">
          <ac:chgData name="ASHUTOSH KAR" userId="62d58b8dd1f5f27d" providerId="LiveId" clId="{02F0863D-18FC-4DAC-AB78-C7F77E1AD674}" dt="2025-11-02T04:36:38.152" v="119" actId="1076"/>
          <ac:picMkLst>
            <pc:docMk/>
            <pc:sldMk cId="251310975" sldId="268"/>
            <ac:picMk id="4" creationId="{56FB70C0-7025-043D-BCC4-7393DAD4B7EC}"/>
          </ac:picMkLst>
        </pc:picChg>
      </pc:sldChg>
      <pc:sldChg chg="add del">
        <pc:chgData name="ASHUTOSH KAR" userId="62d58b8dd1f5f27d" providerId="LiveId" clId="{02F0863D-18FC-4DAC-AB78-C7F77E1AD674}" dt="2025-11-02T04:04:54.890" v="13" actId="2890"/>
        <pc:sldMkLst>
          <pc:docMk/>
          <pc:sldMk cId="564890476" sldId="269"/>
        </pc:sldMkLst>
      </pc:sldChg>
      <pc:sldChg chg="addSp delSp modSp add mod ord">
        <pc:chgData name="ASHUTOSH KAR" userId="62d58b8dd1f5f27d" providerId="LiveId" clId="{02F0863D-18FC-4DAC-AB78-C7F77E1AD674}" dt="2025-11-02T04:32:53.369" v="115" actId="14100"/>
        <pc:sldMkLst>
          <pc:docMk/>
          <pc:sldMk cId="2091522926" sldId="269"/>
        </pc:sldMkLst>
        <pc:spChg chg="mod">
          <ac:chgData name="ASHUTOSH KAR" userId="62d58b8dd1f5f27d" providerId="LiveId" clId="{02F0863D-18FC-4DAC-AB78-C7F77E1AD674}" dt="2025-11-02T04:19:31.909" v="56" actId="1076"/>
          <ac:spMkLst>
            <pc:docMk/>
            <pc:sldMk cId="2091522926" sldId="269"/>
            <ac:spMk id="2" creationId="{71A808D2-C82C-5186-EA6A-0D5E17D46B3B}"/>
          </ac:spMkLst>
        </pc:spChg>
        <pc:spChg chg="add del mod">
          <ac:chgData name="ASHUTOSH KAR" userId="62d58b8dd1f5f27d" providerId="LiveId" clId="{02F0863D-18FC-4DAC-AB78-C7F77E1AD674}" dt="2025-11-02T04:18:59.122" v="50"/>
          <ac:spMkLst>
            <pc:docMk/>
            <pc:sldMk cId="2091522926" sldId="269"/>
            <ac:spMk id="3" creationId="{6353B4B0-2A01-DED4-CD87-2A9E97CD4FA6}"/>
          </ac:spMkLst>
        </pc:spChg>
        <pc:spChg chg="add mod">
          <ac:chgData name="ASHUTOSH KAR" userId="62d58b8dd1f5f27d" providerId="LiveId" clId="{02F0863D-18FC-4DAC-AB78-C7F77E1AD674}" dt="2025-11-02T04:32:53.369" v="115" actId="14100"/>
          <ac:spMkLst>
            <pc:docMk/>
            <pc:sldMk cId="2091522926" sldId="269"/>
            <ac:spMk id="5" creationId="{FEC9DFE0-DAEB-DB92-0EE0-13CC03CECB63}"/>
          </ac:spMkLst>
        </pc:spChg>
        <pc:picChg chg="del">
          <ac:chgData name="ASHUTOSH KAR" userId="62d58b8dd1f5f27d" providerId="LiveId" clId="{02F0863D-18FC-4DAC-AB78-C7F77E1AD674}" dt="2025-11-02T04:05:08.286" v="17" actId="478"/>
          <ac:picMkLst>
            <pc:docMk/>
            <pc:sldMk cId="2091522926" sldId="269"/>
            <ac:picMk id="4" creationId="{E2D14F86-F5AC-1373-BC1E-8F4CCFD2B73A}"/>
          </ac:picMkLst>
        </pc:picChg>
        <pc:picChg chg="add mod">
          <ac:chgData name="ASHUTOSH KAR" userId="62d58b8dd1f5f27d" providerId="LiveId" clId="{02F0863D-18FC-4DAC-AB78-C7F77E1AD674}" dt="2025-11-02T04:31:58.775" v="111" actId="692"/>
          <ac:picMkLst>
            <pc:docMk/>
            <pc:sldMk cId="2091522926" sldId="269"/>
            <ac:picMk id="7" creationId="{E5C66507-1CCC-27B6-7F7F-D496211FEEF7}"/>
          </ac:picMkLst>
        </pc:picChg>
      </pc:sldChg>
      <pc:sldChg chg="add del">
        <pc:chgData name="ASHUTOSH KAR" userId="62d58b8dd1f5f27d" providerId="LiveId" clId="{02F0863D-18FC-4DAC-AB78-C7F77E1AD674}" dt="2025-11-02T04:58:00.949" v="130" actId="2890"/>
        <pc:sldMkLst>
          <pc:docMk/>
          <pc:sldMk cId="506701860" sldId="270"/>
        </pc:sldMkLst>
      </pc:sldChg>
      <pc:sldChg chg="addSp delSp modSp add mod">
        <pc:chgData name="ASHUTOSH KAR" userId="62d58b8dd1f5f27d" providerId="LiveId" clId="{02F0863D-18FC-4DAC-AB78-C7F77E1AD674}" dt="2025-11-02T05:04:48.388" v="173" actId="1076"/>
        <pc:sldMkLst>
          <pc:docMk/>
          <pc:sldMk cId="4111124823" sldId="270"/>
        </pc:sldMkLst>
        <pc:spChg chg="mod">
          <ac:chgData name="ASHUTOSH KAR" userId="62d58b8dd1f5f27d" providerId="LiveId" clId="{02F0863D-18FC-4DAC-AB78-C7F77E1AD674}" dt="2025-11-02T04:58:27.737" v="140" actId="20577"/>
          <ac:spMkLst>
            <pc:docMk/>
            <pc:sldMk cId="4111124823" sldId="270"/>
            <ac:spMk id="2" creationId="{EB44E621-006B-5EC3-222D-ABE23860B027}"/>
          </ac:spMkLst>
        </pc:spChg>
        <pc:spChg chg="mod">
          <ac:chgData name="ASHUTOSH KAR" userId="62d58b8dd1f5f27d" providerId="LiveId" clId="{02F0863D-18FC-4DAC-AB78-C7F77E1AD674}" dt="2025-11-02T05:04:48.388" v="173" actId="1076"/>
          <ac:spMkLst>
            <pc:docMk/>
            <pc:sldMk cId="4111124823" sldId="270"/>
            <ac:spMk id="5" creationId="{A1C1A7D2-94BC-3BE9-FEE3-24DA503EFB2F}"/>
          </ac:spMkLst>
        </pc:spChg>
        <pc:picChg chg="add mod">
          <ac:chgData name="ASHUTOSH KAR" userId="62d58b8dd1f5f27d" providerId="LiveId" clId="{02F0863D-18FC-4DAC-AB78-C7F77E1AD674}" dt="2025-11-02T05:02:12.240" v="156" actId="1076"/>
          <ac:picMkLst>
            <pc:docMk/>
            <pc:sldMk cId="4111124823" sldId="270"/>
            <ac:picMk id="3" creationId="{E9D6A5CE-AE3A-DF19-29EC-40529116764D}"/>
          </ac:picMkLst>
        </pc:picChg>
        <pc:picChg chg="del">
          <ac:chgData name="ASHUTOSH KAR" userId="62d58b8dd1f5f27d" providerId="LiveId" clId="{02F0863D-18FC-4DAC-AB78-C7F77E1AD674}" dt="2025-11-02T04:58:43.224" v="141" actId="478"/>
          <ac:picMkLst>
            <pc:docMk/>
            <pc:sldMk cId="4111124823" sldId="270"/>
            <ac:picMk id="7" creationId="{04F783F8-7A53-978D-2FAF-54171FCAAB4A}"/>
          </ac:picMkLst>
        </pc:picChg>
      </pc:sldChg>
      <pc:sldChg chg="add del">
        <pc:chgData name="ASHUTOSH KAR" userId="62d58b8dd1f5f27d" providerId="LiveId" clId="{02F0863D-18FC-4DAC-AB78-C7F77E1AD674}" dt="2025-11-02T05:06:14.388" v="175" actId="2890"/>
        <pc:sldMkLst>
          <pc:docMk/>
          <pc:sldMk cId="1422504180" sldId="271"/>
        </pc:sldMkLst>
      </pc:sldChg>
      <pc:sldChg chg="addSp delSp modSp add mod">
        <pc:chgData name="ASHUTOSH KAR" userId="62d58b8dd1f5f27d" providerId="LiveId" clId="{02F0863D-18FC-4DAC-AB78-C7F77E1AD674}" dt="2025-11-02T05:16:49.450" v="275" actId="14100"/>
        <pc:sldMkLst>
          <pc:docMk/>
          <pc:sldMk cId="2771423530" sldId="271"/>
        </pc:sldMkLst>
        <pc:spChg chg="mod">
          <ac:chgData name="ASHUTOSH KAR" userId="62d58b8dd1f5f27d" providerId="LiveId" clId="{02F0863D-18FC-4DAC-AB78-C7F77E1AD674}" dt="2025-11-02T05:16:49.450" v="275" actId="14100"/>
          <ac:spMkLst>
            <pc:docMk/>
            <pc:sldMk cId="2771423530" sldId="271"/>
            <ac:spMk id="2" creationId="{D2C8EED9-F4E9-C5B4-D283-2929EC81FE8E}"/>
          </ac:spMkLst>
        </pc:spChg>
        <pc:spChg chg="add del mod">
          <ac:chgData name="ASHUTOSH KAR" userId="62d58b8dd1f5f27d" providerId="LiveId" clId="{02F0863D-18FC-4DAC-AB78-C7F77E1AD674}" dt="2025-11-02T05:15:03.293" v="261" actId="478"/>
          <ac:spMkLst>
            <pc:docMk/>
            <pc:sldMk cId="2771423530" sldId="271"/>
            <ac:spMk id="4" creationId="{F1B4E776-3A83-2358-EF35-9E0FCC3CED69}"/>
          </ac:spMkLst>
        </pc:spChg>
        <pc:spChg chg="mod">
          <ac:chgData name="ASHUTOSH KAR" userId="62d58b8dd1f5f27d" providerId="LiveId" clId="{02F0863D-18FC-4DAC-AB78-C7F77E1AD674}" dt="2025-11-02T05:16:01.830" v="269" actId="14100"/>
          <ac:spMkLst>
            <pc:docMk/>
            <pc:sldMk cId="2771423530" sldId="271"/>
            <ac:spMk id="5" creationId="{7F92E613-2416-7B24-2D0E-DB75C4926CD4}"/>
          </ac:spMkLst>
        </pc:spChg>
        <pc:spChg chg="add mod">
          <ac:chgData name="ASHUTOSH KAR" userId="62d58b8dd1f5f27d" providerId="LiveId" clId="{02F0863D-18FC-4DAC-AB78-C7F77E1AD674}" dt="2025-11-02T05:16:32.100" v="273" actId="113"/>
          <ac:spMkLst>
            <pc:docMk/>
            <pc:sldMk cId="2771423530" sldId="271"/>
            <ac:spMk id="6" creationId="{45F6A353-5C07-A9D5-5614-5617F2976613}"/>
          </ac:spMkLst>
        </pc:spChg>
        <pc:picChg chg="del">
          <ac:chgData name="ASHUTOSH KAR" userId="62d58b8dd1f5f27d" providerId="LiveId" clId="{02F0863D-18FC-4DAC-AB78-C7F77E1AD674}" dt="2025-11-02T05:06:56.159" v="194" actId="478"/>
          <ac:picMkLst>
            <pc:docMk/>
            <pc:sldMk cId="2771423530" sldId="271"/>
            <ac:picMk id="3" creationId="{6AA320F0-0B81-A916-7C3C-7010A004D97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huk\OneDrive\Desktop\NS-SQL%20PROJECTS\SQL-SUBJECTIVE%20CSV%20FILES\Q5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[Q5.csv]Q5!PivotTable1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CHURN RATE BY REGION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'Q5'!$J$2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'Q5'!$I$3:$I$27</c:f>
              <c:strCache>
                <c:ptCount val="24"/>
                <c:pt idx="0">
                  <c:v>Argentina</c:v>
                </c:pt>
                <c:pt idx="1">
                  <c:v>Australia</c:v>
                </c:pt>
                <c:pt idx="2">
                  <c:v>Austria</c:v>
                </c:pt>
                <c:pt idx="3">
                  <c:v>Belgium</c:v>
                </c:pt>
                <c:pt idx="4">
                  <c:v>Brazil</c:v>
                </c:pt>
                <c:pt idx="5">
                  <c:v>Canada</c:v>
                </c:pt>
                <c:pt idx="6">
                  <c:v>Chile</c:v>
                </c:pt>
                <c:pt idx="7">
                  <c:v>Czech Republic</c:v>
                </c:pt>
                <c:pt idx="8">
                  <c:v>Denmark</c:v>
                </c:pt>
                <c:pt idx="9">
                  <c:v>Finland</c:v>
                </c:pt>
                <c:pt idx="10">
                  <c:v>France</c:v>
                </c:pt>
                <c:pt idx="11">
                  <c:v>Germany</c:v>
                </c:pt>
                <c:pt idx="12">
                  <c:v>Hungary</c:v>
                </c:pt>
                <c:pt idx="13">
                  <c:v>India</c:v>
                </c:pt>
                <c:pt idx="14">
                  <c:v>Ireland</c:v>
                </c:pt>
                <c:pt idx="15">
                  <c:v>Italy</c:v>
                </c:pt>
                <c:pt idx="16">
                  <c:v>Netherlands</c:v>
                </c:pt>
                <c:pt idx="17">
                  <c:v>Norway</c:v>
                </c:pt>
                <c:pt idx="18">
                  <c:v>Poland</c:v>
                </c:pt>
                <c:pt idx="19">
                  <c:v>Portugal</c:v>
                </c:pt>
                <c:pt idx="20">
                  <c:v>Spain</c:v>
                </c:pt>
                <c:pt idx="21">
                  <c:v>Sweden</c:v>
                </c:pt>
                <c:pt idx="22">
                  <c:v>United Kingdom</c:v>
                </c:pt>
                <c:pt idx="23">
                  <c:v>USA</c:v>
                </c:pt>
              </c:strCache>
            </c:strRef>
          </c:cat>
          <c:val>
            <c:numRef>
              <c:f>'Q5'!$J$3:$J$27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F1-425A-86CD-270A4530FF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1001007"/>
        <c:axId val="981004367"/>
      </c:lineChart>
      <c:catAx>
        <c:axId val="981001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004367"/>
        <c:crosses val="autoZero"/>
        <c:auto val="1"/>
        <c:lblAlgn val="ctr"/>
        <c:lblOffset val="100"/>
        <c:noMultiLvlLbl val="0"/>
      </c:catAx>
      <c:valAx>
        <c:axId val="981004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001007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581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6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340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95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5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57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00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22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74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94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5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885C1F3-A290-4671-A5F4-66E1A877C1C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61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7744-508F-664F-50BE-DF96281FBA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Chinook music store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6C423-509D-2413-0052-100ABA6EBF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Ashutosh Kar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60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A376-436B-37C6-BBB4-9A8839B5E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F8D7-B6B5-276B-72FD-F4A5214AF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895" y="345057"/>
            <a:ext cx="7729728" cy="807720"/>
          </a:xfrm>
        </p:spPr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C2FA9C-2507-69D1-80AD-92829A827421}"/>
              </a:ext>
            </a:extLst>
          </p:cNvPr>
          <p:cNvSpPr/>
          <p:nvPr/>
        </p:nvSpPr>
        <p:spPr>
          <a:xfrm>
            <a:off x="5992482" y="1640907"/>
            <a:ext cx="5963729" cy="478001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About Chinook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Chinook Music Store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Problem Statement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Schema Diagram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Description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Most popular genres in America based on sales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Most popular genres outside America based on sales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Affinity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Churn Rate by Region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Region wise purchase behavior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Customer segment based on purchase history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Recommendations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Conclusions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E218B-E197-CF84-98B1-F18B1134D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06" y="1577068"/>
            <a:ext cx="5198852" cy="4780019"/>
          </a:xfrm>
          <a:prstGeom prst="roundRect">
            <a:avLst>
              <a:gd name="adj" fmla="val 11111"/>
            </a:avLst>
          </a:prstGeom>
          <a:ln w="88900" cap="rnd">
            <a:solidFill>
              <a:schemeClr val="accent2">
                <a:lumMod val="50000"/>
              </a:schemeClr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172579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7525-EB59-43A2-DD95-6BAD244B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E621-006B-5EC3-222D-ABE23860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895" y="345057"/>
            <a:ext cx="7729728" cy="807720"/>
          </a:xfrm>
        </p:spPr>
        <p:txBody>
          <a:bodyPr/>
          <a:lstStyle/>
          <a:p>
            <a:r>
              <a:rPr lang="en-US" dirty="0"/>
              <a:t>ABOUT Chinook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C1A7D2-94BC-3BE9-FEE3-24DA503EFB2F}"/>
              </a:ext>
            </a:extLst>
          </p:cNvPr>
          <p:cNvSpPr/>
          <p:nvPr/>
        </p:nvSpPr>
        <p:spPr>
          <a:xfrm>
            <a:off x="5018707" y="1621765"/>
            <a:ext cx="6901131" cy="504645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dk1"/>
              </a:buClr>
              <a:buSzPts val="1800"/>
            </a:pPr>
            <a:r>
              <a:rPr lang="en-US" dirty="0">
                <a:sym typeface="Arial"/>
              </a:rPr>
              <a:t>Chinook Music Store is a digital music retailer selling individual tracks and albums.</a:t>
            </a:r>
          </a:p>
          <a:p>
            <a:pPr lvl="0">
              <a:buClr>
                <a:schemeClr val="dk1"/>
              </a:buClr>
              <a:buSzPts val="1800"/>
            </a:pPr>
            <a:r>
              <a:rPr lang="en-US" dirty="0">
                <a:sym typeface="Arial"/>
              </a:rPr>
              <a:t>It operates in a similar model to iTunes, offering a variety of music genres.</a:t>
            </a:r>
          </a:p>
          <a:p>
            <a:pPr lvl="0">
              <a:buClr>
                <a:schemeClr val="dk1"/>
              </a:buClr>
              <a:buSzPts val="1800"/>
            </a:pPr>
            <a:r>
              <a:rPr lang="en-US" dirty="0">
                <a:sym typeface="Arial"/>
              </a:rPr>
              <a:t>The store sells music in digital format, with customer purchases recorded in a database.</a:t>
            </a:r>
          </a:p>
          <a:p>
            <a:pPr lvl="0">
              <a:buClr>
                <a:schemeClr val="dk1"/>
              </a:buClr>
              <a:buSzPts val="1800"/>
            </a:pPr>
            <a:r>
              <a:rPr lang="en-US" dirty="0">
                <a:sym typeface="Arial"/>
              </a:rPr>
              <a:t>The database includes customers, invoices, tracks, artists, and employees.</a:t>
            </a:r>
          </a:p>
          <a:p>
            <a:pPr lvl="0">
              <a:buClr>
                <a:schemeClr val="dk1"/>
              </a:buClr>
              <a:buSzPts val="1800"/>
            </a:pPr>
            <a:r>
              <a:rPr lang="en-US" dirty="0">
                <a:sym typeface="Arial"/>
              </a:rPr>
              <a:t>Transactions are processed via invoices, linking purchases to customers and payment details.</a:t>
            </a:r>
          </a:p>
          <a:p>
            <a:pPr lvl="0">
              <a:buClr>
                <a:schemeClr val="dk1"/>
              </a:buClr>
              <a:buSzPts val="1800"/>
            </a:pPr>
            <a:r>
              <a:rPr lang="en-US" dirty="0">
                <a:sym typeface="Arial"/>
              </a:rPr>
              <a:t>The store aims to analyze customer behavior, sales trends, and revenue insights for business growth.</a:t>
            </a:r>
            <a:endParaRPr lang="en-US" dirty="0"/>
          </a:p>
        </p:txBody>
      </p:sp>
      <p:pic>
        <p:nvPicPr>
          <p:cNvPr id="3" name="Picture Placeholder 17" descr="A person drawing on a white board">
            <a:extLst>
              <a:ext uri="{FF2B5EF4-FFF2-40B4-BE49-F238E27FC236}">
                <a16:creationId xmlns:a16="http://schemas.microsoft.com/office/drawing/2014/main" id="{E9D6A5CE-AE3A-DF19-29EC-4052911676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404" y="1771290"/>
            <a:ext cx="4629324" cy="4529372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1124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D9D24-43EB-D3D1-4A2E-844BFD42E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808D2-C82C-5186-EA6A-0D5E17D4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895" y="345057"/>
            <a:ext cx="7729728" cy="807720"/>
          </a:xfrm>
        </p:spPr>
        <p:txBody>
          <a:bodyPr/>
          <a:lstStyle/>
          <a:p>
            <a:r>
              <a:rPr lang="en-US" dirty="0"/>
              <a:t>Chinook music store analysis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C9DFE0-DAEB-DB92-0EE0-13CC03CECB63}"/>
              </a:ext>
            </a:extLst>
          </p:cNvPr>
          <p:cNvSpPr/>
          <p:nvPr/>
        </p:nvSpPr>
        <p:spPr>
          <a:xfrm>
            <a:off x="5992482" y="1640907"/>
            <a:ext cx="5687683" cy="478001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Welcome to our comprehensive analysis of </a:t>
            </a:r>
            <a:r>
              <a:rPr lang="en-US" b="1" dirty="0"/>
              <a:t>Chinook Music Services</a:t>
            </a:r>
            <a:r>
              <a:rPr lang="en-US" dirty="0"/>
              <a:t>. In this presentation, we delve into detailed sales data, emerging market trends, and customer purchasing behaviors to extract meaningful business insights.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goal is to provide a data-driven understanding of Chinook’s performance across global markets, highlighting opportunities for growth, customer retention, and improved distribution strategies within the international music industry.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C66507-1CCC-27B6-7F7F-D496211FE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06" y="1577068"/>
            <a:ext cx="5198852" cy="4780019"/>
          </a:xfrm>
          <a:prstGeom prst="roundRect">
            <a:avLst>
              <a:gd name="adj" fmla="val 11111"/>
            </a:avLst>
          </a:prstGeom>
          <a:ln w="88900" cap="rnd">
            <a:solidFill>
              <a:schemeClr val="accent2">
                <a:lumMod val="50000"/>
              </a:schemeClr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09152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7A0D-1BE6-B062-58AF-18426A45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EED9-F4E9-C5B4-D283-2929EC81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236" y="345057"/>
            <a:ext cx="10715873" cy="807720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92E613-2416-7B24-2D0E-DB75C4926CD4}"/>
              </a:ext>
            </a:extLst>
          </p:cNvPr>
          <p:cNvSpPr/>
          <p:nvPr/>
        </p:nvSpPr>
        <p:spPr>
          <a:xfrm>
            <a:off x="619236" y="1368724"/>
            <a:ext cx="10715873" cy="74762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1200"/>
              </a:spcBef>
            </a:pPr>
            <a:r>
              <a:rPr lang="en-US" dirty="0">
                <a:sym typeface="Arial"/>
              </a:rPr>
              <a:t>You are hired as a data analyst at Chinook, and your objective is to analyze music record sales data to gain insights and make recommendations for the company's strategy in the physical music market.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F6A353-5C07-A9D5-5614-5617F2976613}"/>
              </a:ext>
            </a:extLst>
          </p:cNvPr>
          <p:cNvSpPr/>
          <p:nvPr/>
        </p:nvSpPr>
        <p:spPr>
          <a:xfrm>
            <a:off x="619236" y="2251494"/>
            <a:ext cx="10715873" cy="435058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ts val="1200"/>
              </a:spcBef>
            </a:pPr>
            <a:r>
              <a:rPr lang="en-US" sz="2400" b="1" u="sng" dirty="0">
                <a:sym typeface="Arial"/>
              </a:rPr>
              <a:t>Objectives:</a:t>
            </a:r>
            <a:endParaRPr lang="en-US" sz="2400" b="1" u="sng" dirty="0"/>
          </a:p>
          <a:p>
            <a:pPr marL="285750" lvl="0" indent="-285750">
              <a:spcBef>
                <a:spcPts val="1200"/>
              </a:spcBef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dirty="0">
                <a:sym typeface="Arial"/>
              </a:rPr>
              <a:t>Analyze Music Sales Data – Identify sales trends across different genres, artists, and albums.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dirty="0">
                <a:sym typeface="Arial"/>
              </a:rPr>
              <a:t>Understand Customer Preferences – Study purchase frequency, spending habits.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dirty="0">
                <a:sym typeface="Arial"/>
              </a:rPr>
              <a:t>Identify High-Value Customers – Find top spenders and their buying patterns.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dirty="0">
                <a:sym typeface="Arial"/>
              </a:rPr>
              <a:t>Track Seasonal Sales Trends – Analyze monthly and yearly fluctuations in music sales.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dirty="0">
                <a:sym typeface="Arial"/>
              </a:rPr>
              <a:t>Optimize Inventory &amp; Pricing – Recommend stock adjustments and pricing strategies for maximum revenue.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423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949A-6DE1-F110-E3E1-3DF11188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4842"/>
            <a:ext cx="7729728" cy="807720"/>
          </a:xfrm>
        </p:spPr>
        <p:txBody>
          <a:bodyPr/>
          <a:lstStyle/>
          <a:p>
            <a:r>
              <a:rPr lang="en-US" dirty="0"/>
              <a:t>Data schema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B70C0-7025-043D-BCC4-7393DAD4B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04" y="910994"/>
            <a:ext cx="9619244" cy="58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1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864" y="51758"/>
            <a:ext cx="7729728" cy="71437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E79E8-FEC2-852D-F681-C0F53150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64" y="852398"/>
            <a:ext cx="6329362" cy="5651919"/>
          </a:xfrm>
        </p:spPr>
        <p:txBody>
          <a:bodyPr>
            <a:normAutofit/>
          </a:bodyPr>
          <a:lstStyle/>
          <a:p>
            <a:pPr rtl="0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customer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customer_id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first_name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given name or first name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last_name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surname or family name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company: The name of the company associated with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address: The street address of a customer's location.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city: The city where a customer is located.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state: The state or province where a customer is located.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country: The country where a customer is located.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postal_code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postal or zip code of a customer's address.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phone: The phone number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fax: The fax number associated with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email: The email address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support_rep_id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employee ID of the support representative assigned to a customer.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D00B6-453A-EB9A-9544-BEC7C2D4D557}"/>
              </a:ext>
            </a:extLst>
          </p:cNvPr>
          <p:cNvSpPr txBox="1"/>
          <p:nvPr/>
        </p:nvSpPr>
        <p:spPr>
          <a:xfrm>
            <a:off x="6285961" y="905232"/>
            <a:ext cx="581977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invoice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customer_id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customer ID associated with the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invoice_date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date when the invoice was generated or issued.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billing_address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street address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billing_city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city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billing_state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state or province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billing_country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country used for billing purposes.</a:t>
            </a:r>
          </a:p>
          <a:p>
            <a:pPr rtl="0" fontAlgn="base"/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billing_postal_code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postal or zip code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total: The total amount due on the invoice.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083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8A57-C9F0-F946-BC21-18AF8695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80513"/>
            <a:ext cx="7729728" cy="55858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description(continued)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79F7-7CFD-92E8-971F-5C582F933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8663"/>
            <a:ext cx="6472238" cy="6129337"/>
          </a:xfrm>
        </p:spPr>
        <p:txBody>
          <a:bodyPr>
            <a:normAutofit fontScale="77500" lnSpcReduction="20000"/>
          </a:bodyPr>
          <a:lstStyle/>
          <a:p>
            <a:pPr rtl="0"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+mj-lt"/>
              </a:rPr>
              <a:t>invoice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                                                                                                                                               </a:t>
            </a:r>
            <a:endParaRPr lang="en-US" sz="20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customer_id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customer ID associated with the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invoice_date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date when the invoice was generated or issued.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billing_address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street address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billing_city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city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billing_state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state or province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billing_country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country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billing_postal_code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postal or zip code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total: The total amount due on the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b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</a:br>
            <a:endParaRPr lang="en-US" sz="20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>
              <a:buNone/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invoice_line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20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invoice_line_id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line item on an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invoice_id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invoice ID to which the line item belongs.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track_id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track or product included in the line item.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unit_price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price per unit for the line item.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quantity: The quantity of units for the line item.</a:t>
            </a: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6D233-F929-A1F8-E667-060EF1A40DDE}"/>
              </a:ext>
            </a:extLst>
          </p:cNvPr>
          <p:cNvSpPr txBox="1"/>
          <p:nvPr/>
        </p:nvSpPr>
        <p:spPr>
          <a:xfrm>
            <a:off x="6472238" y="728663"/>
            <a:ext cx="571976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playlist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playlist_id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playlist.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name: The name or title of the playlist.</a:t>
            </a:r>
          </a:p>
          <a:p>
            <a:pPr rtl="0">
              <a:buNone/>
            </a:pPr>
            <a:br>
              <a:rPr lang="en-US" sz="1600" b="0" dirty="0">
                <a:effectLst/>
                <a:latin typeface="+mj-lt"/>
              </a:rPr>
            </a:b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playlist_track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playlist_id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playlist to which the track belongs.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track_id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track included in the playlist.</a:t>
            </a:r>
          </a:p>
          <a:p>
            <a:pPr rtl="0">
              <a:buNone/>
            </a:pPr>
            <a:br>
              <a:rPr lang="en-US" sz="1600" b="0" dirty="0">
                <a:effectLst/>
                <a:latin typeface="+mj-lt"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track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track_id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track or song.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name: The title or name of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album_id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album to which the track belongs.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media_type_id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media type associated with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genre_id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genre associated with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composer: The name of the composer or artist who composed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milliseconds: The duration of the track in milliseconds.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bytes: The file size of the track in bytes.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unit_price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price per unit for the track.</a:t>
            </a: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68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B116-CEB1-4FAA-CF49-6AE1F4B7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0"/>
            <a:ext cx="7729728" cy="885825"/>
          </a:xfrm>
        </p:spPr>
        <p:txBody>
          <a:bodyPr/>
          <a:lstStyle/>
          <a:p>
            <a:r>
              <a:rPr lang="en-US" dirty="0"/>
              <a:t>Data description(continued)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718C3-E567-8D65-AB61-0C8672FD1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5826"/>
            <a:ext cx="6543675" cy="5972174"/>
          </a:xfrm>
        </p:spPr>
        <p:txBody>
          <a:bodyPr>
            <a:normAutofit/>
          </a:bodyPr>
          <a:lstStyle/>
          <a:p>
            <a:pPr rtl="0"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+mj-lt"/>
              </a:rPr>
              <a:t>  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album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album_id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album.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title: The title or name of the album.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artist_id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The ID of the artist associated with the album.</a:t>
            </a:r>
          </a:p>
          <a:p>
            <a:pPr rtl="0">
              <a:buNone/>
            </a:pPr>
            <a:br>
              <a:rPr lang="en-US" sz="1600" b="0" dirty="0">
                <a:effectLst/>
                <a:latin typeface="+mj-lt"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artist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artist_id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artist.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name: The name of the artist.</a:t>
            </a:r>
          </a:p>
          <a:p>
            <a:pPr rtl="0">
              <a:buNone/>
            </a:pPr>
            <a:br>
              <a:rPr lang="en-US" sz="1600" b="0" dirty="0">
                <a:effectLst/>
              </a:rPr>
            </a:br>
            <a:r>
              <a:rPr lang="en-IN" sz="16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media_type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IN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media_type_id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media type.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name: The name or description of the media type (e.g., MPEG audio file, AAC audio file).</a:t>
            </a:r>
          </a:p>
          <a:p>
            <a:pPr rtl="0">
              <a:buNone/>
            </a:pPr>
            <a:br>
              <a:rPr lang="en-IN" sz="1600" b="0" dirty="0">
                <a:effectLst/>
                <a:latin typeface="+mj-lt"/>
              </a:rPr>
            </a:b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+mj-lt"/>
              </a:rPr>
              <a:t>genre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</a:t>
            </a:r>
            <a:endParaRPr lang="en-IN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genre_id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: Unique identifier assigned to each genre.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+mj-lt"/>
              </a:rPr>
              <a:t>name: The name or description of the genre (e.g., rock, pop, classical).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126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9C895-CA00-889B-9051-09EDADAE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3346"/>
            <a:ext cx="7729728" cy="657225"/>
          </a:xfrm>
        </p:spPr>
        <p:txBody>
          <a:bodyPr>
            <a:normAutofit fontScale="90000"/>
          </a:bodyPr>
          <a:lstStyle/>
          <a:p>
            <a:r>
              <a:rPr lang="en-US" dirty="0"/>
              <a:t>Most popular genres in America based on sales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89ACD-AC11-D02B-980F-A7C157AEDF66}"/>
              </a:ext>
            </a:extLst>
          </p:cNvPr>
          <p:cNvSpPr txBox="1"/>
          <p:nvPr/>
        </p:nvSpPr>
        <p:spPr>
          <a:xfrm>
            <a:off x="6096000" y="1243013"/>
            <a:ext cx="6096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most popular genre in the USA is Rock.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Rock,  Alternative &amp; Punk and Metal are the most popular genres.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this, Rock albums and Rock artists should be advertised. Metal and Alternative &amp; Punk should also be promoted.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genres like Blues and R&amp;B/Soul, they should be sold on exclusive deals to frequent buyers of these genres.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F15669-A422-CC24-9223-70C2381A1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9641"/>
            <a:ext cx="59131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5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E65E-2139-ED1C-0CB7-A58F2B8BA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"/>
            <a:ext cx="7729728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Most popular genres outside America based on sales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71A02-47E3-05A2-496E-777375A50C18}"/>
              </a:ext>
            </a:extLst>
          </p:cNvPr>
          <p:cNvSpPr txBox="1"/>
          <p:nvPr/>
        </p:nvSpPr>
        <p:spPr>
          <a:xfrm>
            <a:off x="5943600" y="1000125"/>
            <a:ext cx="6248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Just like the USA, the most popular genre outside USA based on sales is Rock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Outside America, Metal is more popular than Alternative &amp; Punk, but both are similarly popular after Rock like in America.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Outside America, Latin is more popular than R&amp;B/Soul and Jazz is more popular than Blues.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Rock should be advertised the highest because of its massive lead in total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Metal and Alternative &amp; Punk should be promoted.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Latin, Jazz and R&amp;B/Soul should be sold on discounts to frequent buyers.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545400-2ABA-56CD-F119-B98344244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2999"/>
            <a:ext cx="5608320" cy="507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70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2AC3-B762-E25F-AB02-28FE409D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"/>
            <a:ext cx="7729728" cy="614362"/>
          </a:xfrm>
        </p:spPr>
        <p:txBody>
          <a:bodyPr>
            <a:normAutofit fontScale="90000"/>
          </a:bodyPr>
          <a:lstStyle/>
          <a:p>
            <a:r>
              <a:rPr lang="en-US" dirty="0"/>
              <a:t>Affinity analysis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7419-575F-9F73-2EA4-86B7D31F26C5}"/>
              </a:ext>
            </a:extLst>
          </p:cNvPr>
          <p:cNvSpPr txBox="1"/>
          <p:nvPr/>
        </p:nvSpPr>
        <p:spPr>
          <a:xfrm>
            <a:off x="0" y="5393444"/>
            <a:ext cx="12192000" cy="146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948390-71EA-75BC-21FF-B90AF42DCAD6}"/>
              </a:ext>
            </a:extLst>
          </p:cNvPr>
          <p:cNvSpPr txBox="1"/>
          <p:nvPr/>
        </p:nvSpPr>
        <p:spPr>
          <a:xfrm>
            <a:off x="40257" y="4824503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Speaking of a genre that was bought together with another genre, Rock was bought with other genres most number of times. So cross-selling initiatives should be taken for people who buy Rock as one of the genre.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Based on frequently purchased genre pairs, create bundle offers that include both Rock and its frequent pairings, such as:</a:t>
            </a:r>
          </a:p>
          <a:p>
            <a:r>
              <a:rPr lang="en-GB" dirty="0"/>
              <a:t>     Rock &amp; Metal</a:t>
            </a:r>
            <a:r>
              <a:rPr lang="en-IN" dirty="0"/>
              <a:t>,</a:t>
            </a:r>
            <a:r>
              <a:rPr lang="en-GB" dirty="0"/>
              <a:t> Rock &amp; Alternative &amp; Punk</a:t>
            </a:r>
            <a:r>
              <a:rPr lang="en-US" dirty="0"/>
              <a:t>,</a:t>
            </a:r>
            <a:r>
              <a:rPr lang="en-GB" dirty="0"/>
              <a:t> Rock &amp; R&amp;B/Soul</a:t>
            </a:r>
            <a:r>
              <a:rPr lang="en-US" dirty="0"/>
              <a:t> etc.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E5DB58-3DAA-E8EE-B7FA-5BD677E10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6" y="718466"/>
            <a:ext cx="5705218" cy="394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64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5D2A4-D1C9-8AC9-3BC2-B7336684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0"/>
            <a:ext cx="7729728" cy="600075"/>
          </a:xfrm>
        </p:spPr>
        <p:txBody>
          <a:bodyPr>
            <a:normAutofit fontScale="90000"/>
          </a:bodyPr>
          <a:lstStyle/>
          <a:p>
            <a:r>
              <a:rPr lang="en-US" dirty="0"/>
              <a:t>Churn rates by region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CE743-E487-B80E-2A5F-504B84F1575F}"/>
              </a:ext>
            </a:extLst>
          </p:cNvPr>
          <p:cNvSpPr txBox="1"/>
          <p:nvPr/>
        </p:nvSpPr>
        <p:spPr>
          <a:xfrm>
            <a:off x="169652" y="5490894"/>
            <a:ext cx="544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Very small customer base (only 1 customer) in Belgium, meaning a single churn skews the data.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USA &amp; Canada: Largest Customer Bases, No Churn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C53E585-9F83-5102-B1AE-D5B790EA4D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7769445"/>
              </p:ext>
            </p:extLst>
          </p:nvPr>
        </p:nvGraphicFramePr>
        <p:xfrm>
          <a:off x="169652" y="947469"/>
          <a:ext cx="5443269" cy="438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CDEB437-BAE1-7F7F-20B6-7FCE73A43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177" y="947469"/>
            <a:ext cx="6334171" cy="43894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9156E9D-3087-6438-97EC-90703102E625}"/>
              </a:ext>
            </a:extLst>
          </p:cNvPr>
          <p:cNvSpPr txBox="1"/>
          <p:nvPr/>
        </p:nvSpPr>
        <p:spPr>
          <a:xfrm>
            <a:off x="5688177" y="5490894"/>
            <a:ext cx="544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Countries like India, Brazil, Portugal have a higher average spending per customer but still maintain zero churn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803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020C-2BED-170B-5410-321C9324F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0"/>
            <a:ext cx="7729728" cy="542925"/>
          </a:xfrm>
        </p:spPr>
        <p:txBody>
          <a:bodyPr>
            <a:normAutofit fontScale="90000"/>
          </a:bodyPr>
          <a:lstStyle/>
          <a:p>
            <a:r>
              <a:rPr lang="en-US" dirty="0"/>
              <a:t>Region wise purchase behavior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5C15F1-1583-B668-EAC1-9582055B9D97}"/>
              </a:ext>
            </a:extLst>
          </p:cNvPr>
          <p:cNvSpPr txBox="1"/>
          <p:nvPr/>
        </p:nvSpPr>
        <p:spPr>
          <a:xfrm>
            <a:off x="6699849" y="1190445"/>
            <a:ext cx="54921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 has the highest total transactions and total customers.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Countries like India, Brazil, Portugal have a higher average spending per customer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should be advertisements and special deals for countries with only 1 or 2 customers to promote more engagement.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028F3E-D61A-4DF6-FB9B-DAA3863A2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5" y="724619"/>
            <a:ext cx="6467250" cy="559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85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C186-0BA5-CFEA-6D86-8775F25C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"/>
            <a:ext cx="7729728" cy="814388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segments based on purchase history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9FCDC-D188-4BC2-1F66-8E1595B6D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920" y="1271588"/>
            <a:ext cx="6355080" cy="5586411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Customers were segmentized based on frequency (average days between purchases), total spent and total purchases (high value, low value and moderate value), and churn 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status (active, churned, at risk).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Most customers who are churned belong to the moderate value segment.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Customers belonging to the high value segment are usually active.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Most customers belong to the high frequency segment.</a:t>
            </a: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None of the customers belonging to the low frequency or moderate frequency segments are churned. This can be because buying after a lot of days made their latest order date in the past 6 months.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12BEC6-41D3-5475-0382-CCF8C47F8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" y="1158240"/>
            <a:ext cx="5730240" cy="5105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1829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09D10-BD61-CE6C-7F56-907EA453D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57188"/>
            <a:ext cx="7729728" cy="760785"/>
          </a:xfrm>
        </p:spPr>
        <p:txBody>
          <a:bodyPr>
            <a:normAutofit/>
          </a:bodyPr>
          <a:lstStyle/>
          <a:p>
            <a:r>
              <a:rPr lang="en-US" dirty="0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C6B0-8F9C-89F9-A7C3-D9CA45C4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5876"/>
            <a:ext cx="12192000" cy="5572124"/>
          </a:xfrm>
        </p:spPr>
        <p:txBody>
          <a:bodyPr/>
          <a:lstStyle/>
          <a:p>
            <a:r>
              <a:rPr lang="en-US" dirty="0"/>
              <a:t>Exclusive deals and advertisements in countries with less total customers. </a:t>
            </a:r>
          </a:p>
          <a:p>
            <a:endParaRPr lang="en-US" dirty="0"/>
          </a:p>
          <a:p>
            <a:r>
              <a:rPr lang="en-IN" dirty="0"/>
              <a:t>Cross-selling initiatives, especially in popular genres like rock where people buy multiple tracks. Discounts on full albums. </a:t>
            </a:r>
          </a:p>
          <a:p>
            <a:endParaRPr lang="en-IN" dirty="0"/>
          </a:p>
          <a:p>
            <a:r>
              <a:rPr lang="en-IN" dirty="0"/>
              <a:t>Win back discounts and incentives for churned customers, retention campaigns (like points system, exciting deals) for at risk customers, and loyalty programs for active customers (like personal offers). </a:t>
            </a:r>
          </a:p>
          <a:p>
            <a:endParaRPr lang="en-IN" dirty="0"/>
          </a:p>
          <a:p>
            <a:r>
              <a:rPr lang="en-IN" dirty="0"/>
              <a:t>Survey feedbacks for countries with high churn rates. </a:t>
            </a:r>
          </a:p>
          <a:p>
            <a:endParaRPr lang="en-IN" dirty="0"/>
          </a:p>
          <a:p>
            <a:r>
              <a:rPr lang="en-IN" dirty="0"/>
              <a:t>Advertisement of tracks/albums which have lesser reach (distinct customers) but high total sales. 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225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27DB4-F2DD-356C-F244-73737A517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0"/>
            <a:ext cx="7729728" cy="942975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802A-EAE8-A199-1F76-53BA11C1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471614"/>
            <a:ext cx="10044112" cy="2457449"/>
          </a:xfrm>
        </p:spPr>
        <p:txBody>
          <a:bodyPr/>
          <a:lstStyle/>
          <a:p>
            <a:r>
              <a:rPr lang="en-US" dirty="0"/>
              <a:t>Major work needs to be done on the countries with 1 or 2 customers to increase engagement. </a:t>
            </a:r>
          </a:p>
          <a:p>
            <a:endParaRPr lang="en-US" dirty="0"/>
          </a:p>
          <a:p>
            <a:r>
              <a:rPr lang="en-US" dirty="0"/>
              <a:t>Countries like Czech Republic should be given priority because of less customers but high potential.</a:t>
            </a:r>
          </a:p>
          <a:p>
            <a:endParaRPr lang="en-US" dirty="0"/>
          </a:p>
          <a:p>
            <a:r>
              <a:rPr lang="en-US" dirty="0"/>
              <a:t>Focus on Rock should be kept the highest, be it cross-selling or advertising.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B30D2-C7C6-6E00-5717-B201E2D04F0E}"/>
              </a:ext>
            </a:extLst>
          </p:cNvPr>
          <p:cNvSpPr txBox="1"/>
          <p:nvPr/>
        </p:nvSpPr>
        <p:spPr>
          <a:xfrm>
            <a:off x="342900" y="3929063"/>
            <a:ext cx="1154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By leveraging these insights, the company can optimize marketing efforts, improve customer retention, and increase profitability. Implementing the recommendations will drive data-driven decision-making for long-term success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4906383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25211</TotalTime>
  <Words>1784</Words>
  <Application>Microsoft Office PowerPoint</Application>
  <PresentationFormat>Widescreen</PresentationFormat>
  <Paragraphs>186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Gill Sans MT</vt:lpstr>
      <vt:lpstr>Noto Sans Symbols</vt:lpstr>
      <vt:lpstr>Symbol</vt:lpstr>
      <vt:lpstr>Parcel</vt:lpstr>
      <vt:lpstr>Chinook music store project</vt:lpstr>
      <vt:lpstr>CONTENTs</vt:lpstr>
      <vt:lpstr>ABOUT Chinook</vt:lpstr>
      <vt:lpstr>Chinook music store analysis</vt:lpstr>
      <vt:lpstr>PROBLEM STATEMENT</vt:lpstr>
      <vt:lpstr>Data schema diagram</vt:lpstr>
      <vt:lpstr>Data description</vt:lpstr>
      <vt:lpstr>Data description(continued) </vt:lpstr>
      <vt:lpstr>Data description(continued)</vt:lpstr>
      <vt:lpstr>Most popular genres in America based on sales</vt:lpstr>
      <vt:lpstr>Most popular genres outside America based on sales</vt:lpstr>
      <vt:lpstr>Affinity analysis</vt:lpstr>
      <vt:lpstr>Churn rates by region</vt:lpstr>
      <vt:lpstr>Region wise purchase behavior</vt:lpstr>
      <vt:lpstr>Customer segments based on purchase history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irman.sharma0304@gmail.com</dc:creator>
  <cp:lastModifiedBy>ASHUTOSH KAR</cp:lastModifiedBy>
  <cp:revision>8</cp:revision>
  <dcterms:created xsi:type="dcterms:W3CDTF">2025-03-14T20:13:51Z</dcterms:created>
  <dcterms:modified xsi:type="dcterms:W3CDTF">2025-11-02T12:10:01Z</dcterms:modified>
</cp:coreProperties>
</file>